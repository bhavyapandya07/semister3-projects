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Inter Bold" charset="1" panose="02000503000000020004"/>
      <p:regular r:id="rId18"/>
    </p:embeddedFont>
    <p:embeddedFont>
      <p:font typeface="Arimo Bold" charset="1" panose="020B0704020202020204"/>
      <p:regular r:id="rId19"/>
    </p:embeddedFont>
    <p:embeddedFont>
      <p:font typeface="Inter" charset="1" panose="02000503000000020004"/>
      <p:regular r:id="rId20"/>
    </p:embeddedFont>
    <p:embeddedFont>
      <p:font typeface="Arimo" charset="1" panose="020B06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600" y="7067845"/>
            <a:ext cx="15544800" cy="14288"/>
            <a:chOff x="0" y="0"/>
            <a:chExt cx="20726400" cy="19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26400" cy="19050"/>
            </a:xfrm>
            <a:custGeom>
              <a:avLst/>
              <a:gdLst/>
              <a:ahLst/>
              <a:cxnLst/>
              <a:rect r="r" b="b" t="t" l="l"/>
              <a:pathLst>
                <a:path h="1905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71600" y="2090442"/>
            <a:ext cx="169164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818CF8"/>
                </a:solidFill>
                <a:latin typeface="Inter Bold"/>
                <a:ea typeface="Inter Bold"/>
                <a:cs typeface="Inter Bold"/>
                <a:sym typeface="Inter Bold"/>
              </a:rPr>
              <a:t>BIG DATA ANALYTICS PROJECT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71600" y="2766717"/>
            <a:ext cx="13651706" cy="221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10"/>
              </a:lnSpc>
            </a:pPr>
            <a:r>
              <a:rPr lang="en-US" sz="810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Predictive E-Commerce Recommendations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1600" y="5324770"/>
            <a:ext cx="10144125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Building a collaborative filtering engine using Apache Spark and ALS matrix factorization.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1600" y="7539333"/>
            <a:ext cx="12394406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PROJECT TEAM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1600" y="7886995"/>
            <a:ext cx="3107531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Vaishnavi Magadum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14825" y="7886995"/>
            <a:ext cx="2500312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Sakshi Paradkar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72275" y="7886995"/>
            <a:ext cx="2357438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Bhavya Pandya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15425" y="7886995"/>
            <a:ext cx="2714625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Avatar Pacharane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30050" y="7886995"/>
            <a:ext cx="199072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Adarsh Madivala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34074" y="5697807"/>
            <a:ext cx="28575" cy="1428750"/>
            <a:chOff x="0" y="0"/>
            <a:chExt cx="38100" cy="1905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25123" y="5697807"/>
            <a:ext cx="28575" cy="1428750"/>
            <a:chOff x="0" y="0"/>
            <a:chExt cx="38100" cy="190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1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02691" y="5233464"/>
            <a:ext cx="500062" cy="571500"/>
            <a:chOff x="0" y="0"/>
            <a:chExt cx="666750" cy="7620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66750" cy="762000"/>
            </a:xfrm>
            <a:custGeom>
              <a:avLst/>
              <a:gdLst/>
              <a:ahLst/>
              <a:cxnLst/>
              <a:rect r="r" b="b" t="t" l="l"/>
              <a:pathLst>
                <a:path h="7620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3" t="0" r="-17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786593" y="5233464"/>
            <a:ext cx="714375" cy="571500"/>
            <a:chOff x="0" y="0"/>
            <a:chExt cx="952500" cy="762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952500" cy="762000"/>
            </a:xfrm>
            <a:custGeom>
              <a:avLst/>
              <a:gdLst/>
              <a:ahLst/>
              <a:cxnLst/>
              <a:rect r="r" b="b" t="t" l="l"/>
              <a:pathLst>
                <a:path h="7620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45" r="0" b="-24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977642" y="5233464"/>
            <a:ext cx="714375" cy="571500"/>
            <a:chOff x="0" y="0"/>
            <a:chExt cx="952500" cy="7620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952500" cy="762000"/>
            </a:xfrm>
            <a:custGeom>
              <a:avLst/>
              <a:gdLst/>
              <a:ahLst/>
              <a:cxnLst/>
              <a:rect r="r" b="b" t="t" l="l"/>
              <a:pathLst>
                <a:path h="7620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5" r="0" b="-24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-285750" y="2696099"/>
            <a:ext cx="18859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4F46E5"/>
                </a:solidFill>
                <a:latin typeface="Inter Bold"/>
                <a:ea typeface="Inter Bold"/>
                <a:cs typeface="Inter Bold"/>
                <a:sym typeface="Inter Bold"/>
              </a:rPr>
              <a:t>THE DATASET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285750" y="3248549"/>
            <a:ext cx="18859500" cy="84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0"/>
              </a:lnSpc>
            </a:pPr>
            <a:r>
              <a:rPr lang="en-US" sz="63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Project Scale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6291" y="6252639"/>
            <a:ext cx="645309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2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2.7M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6291" y="7281339"/>
            <a:ext cx="6453092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4F46E5"/>
                </a:solidFill>
                <a:latin typeface="Inter Bold"/>
                <a:ea typeface="Inter Bold"/>
                <a:cs typeface="Inter Bold"/>
                <a:sym typeface="Inter Bold"/>
              </a:rPr>
              <a:t>REAL SHOPPING EVENTS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917340" y="6252639"/>
            <a:ext cx="645309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2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100K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17340" y="7281339"/>
            <a:ext cx="6453092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4F46E5"/>
                </a:solidFill>
                <a:latin typeface="Inter Bold"/>
                <a:ea typeface="Inter Bold"/>
                <a:cs typeface="Inter Bold"/>
                <a:sym typeface="Inter Bold"/>
              </a:rPr>
              <a:t>USERS MODELED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08388" y="6252639"/>
            <a:ext cx="645309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2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109K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08388" y="7281339"/>
            <a:ext cx="6453092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4F46E5"/>
                </a:solidFill>
                <a:latin typeface="Inter Bold"/>
                <a:ea typeface="Inter Bold"/>
                <a:cs typeface="Inter Bold"/>
                <a:sym typeface="Inter Bold"/>
              </a:rPr>
              <a:t>CATALOG ITEMS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4456" y="3318939"/>
            <a:ext cx="4891011" cy="5832205"/>
            <a:chOff x="0" y="0"/>
            <a:chExt cx="6521348" cy="7776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21323" cy="7776211"/>
            </a:xfrm>
            <a:custGeom>
              <a:avLst/>
              <a:gdLst/>
              <a:ahLst/>
              <a:cxnLst/>
              <a:rect r="r" b="b" t="t" l="l"/>
              <a:pathLst>
                <a:path h="7776211" w="6521323">
                  <a:moveTo>
                    <a:pt x="0" y="152781"/>
                  </a:moveTo>
                  <a:cubicBezTo>
                    <a:pt x="0" y="68453"/>
                    <a:pt x="68453" y="0"/>
                    <a:pt x="152781" y="0"/>
                  </a:cubicBezTo>
                  <a:lnTo>
                    <a:pt x="6368542" y="0"/>
                  </a:lnTo>
                  <a:cubicBezTo>
                    <a:pt x="6452870" y="0"/>
                    <a:pt x="6521323" y="68453"/>
                    <a:pt x="6521323" y="152781"/>
                  </a:cubicBezTo>
                  <a:lnTo>
                    <a:pt x="6521323" y="7623429"/>
                  </a:lnTo>
                  <a:cubicBezTo>
                    <a:pt x="6521323" y="7707757"/>
                    <a:pt x="6452870" y="7776211"/>
                    <a:pt x="6368542" y="7776211"/>
                  </a:cubicBezTo>
                  <a:lnTo>
                    <a:pt x="152781" y="7776211"/>
                  </a:lnTo>
                  <a:cubicBezTo>
                    <a:pt x="68453" y="7776210"/>
                    <a:pt x="0" y="7707884"/>
                    <a:pt x="0" y="762342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98380" y="3318939"/>
            <a:ext cx="4891011" cy="5832205"/>
            <a:chOff x="0" y="0"/>
            <a:chExt cx="6521348" cy="77762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21323" cy="7776211"/>
            </a:xfrm>
            <a:custGeom>
              <a:avLst/>
              <a:gdLst/>
              <a:ahLst/>
              <a:cxnLst/>
              <a:rect r="r" b="b" t="t" l="l"/>
              <a:pathLst>
                <a:path h="7776211" w="6521323">
                  <a:moveTo>
                    <a:pt x="0" y="152781"/>
                  </a:moveTo>
                  <a:cubicBezTo>
                    <a:pt x="0" y="68453"/>
                    <a:pt x="68453" y="0"/>
                    <a:pt x="152781" y="0"/>
                  </a:cubicBezTo>
                  <a:lnTo>
                    <a:pt x="6368542" y="0"/>
                  </a:lnTo>
                  <a:cubicBezTo>
                    <a:pt x="6452870" y="0"/>
                    <a:pt x="6521323" y="68453"/>
                    <a:pt x="6521323" y="152781"/>
                  </a:cubicBezTo>
                  <a:lnTo>
                    <a:pt x="6521323" y="7623429"/>
                  </a:lnTo>
                  <a:cubicBezTo>
                    <a:pt x="6521323" y="7707757"/>
                    <a:pt x="6452870" y="7776211"/>
                    <a:pt x="6368542" y="7776211"/>
                  </a:cubicBezTo>
                  <a:lnTo>
                    <a:pt x="152781" y="7776211"/>
                  </a:lnTo>
                  <a:cubicBezTo>
                    <a:pt x="68453" y="7776210"/>
                    <a:pt x="0" y="7707884"/>
                    <a:pt x="0" y="762342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032304" y="3318939"/>
            <a:ext cx="4891011" cy="5832205"/>
            <a:chOff x="0" y="0"/>
            <a:chExt cx="6521348" cy="77762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21323" cy="7776211"/>
            </a:xfrm>
            <a:custGeom>
              <a:avLst/>
              <a:gdLst/>
              <a:ahLst/>
              <a:cxnLst/>
              <a:rect r="r" b="b" t="t" l="l"/>
              <a:pathLst>
                <a:path h="7776211" w="6521323">
                  <a:moveTo>
                    <a:pt x="0" y="152781"/>
                  </a:moveTo>
                  <a:cubicBezTo>
                    <a:pt x="0" y="68453"/>
                    <a:pt x="68453" y="0"/>
                    <a:pt x="152781" y="0"/>
                  </a:cubicBezTo>
                  <a:lnTo>
                    <a:pt x="6368542" y="0"/>
                  </a:lnTo>
                  <a:cubicBezTo>
                    <a:pt x="6452870" y="0"/>
                    <a:pt x="6521323" y="68453"/>
                    <a:pt x="6521323" y="152781"/>
                  </a:cubicBezTo>
                  <a:lnTo>
                    <a:pt x="6521323" y="7623429"/>
                  </a:lnTo>
                  <a:cubicBezTo>
                    <a:pt x="6521323" y="7707757"/>
                    <a:pt x="6452870" y="7776211"/>
                    <a:pt x="6368542" y="7776211"/>
                  </a:cubicBezTo>
                  <a:lnTo>
                    <a:pt x="152781" y="7776211"/>
                  </a:lnTo>
                  <a:cubicBezTo>
                    <a:pt x="68453" y="7776210"/>
                    <a:pt x="0" y="7707884"/>
                    <a:pt x="0" y="762342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843088" y="4026170"/>
            <a:ext cx="3933749" cy="685800"/>
            <a:chOff x="0" y="0"/>
            <a:chExt cx="5244998" cy="9144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5244973" cy="914400"/>
            </a:xfrm>
            <a:custGeom>
              <a:avLst/>
              <a:gdLst/>
              <a:ahLst/>
              <a:cxnLst/>
              <a:rect r="r" b="b" t="t" l="l"/>
              <a:pathLst>
                <a:path h="914400" w="5244973">
                  <a:moveTo>
                    <a:pt x="0" y="0"/>
                  </a:moveTo>
                  <a:lnTo>
                    <a:pt x="5244973" y="0"/>
                  </a:lnTo>
                  <a:lnTo>
                    <a:pt x="5244973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8" r="0" b="-91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77011" y="4026170"/>
            <a:ext cx="3933749" cy="685800"/>
            <a:chOff x="0" y="0"/>
            <a:chExt cx="5244998" cy="9144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5244973" cy="914400"/>
            </a:xfrm>
            <a:custGeom>
              <a:avLst/>
              <a:gdLst/>
              <a:ahLst/>
              <a:cxnLst/>
              <a:rect r="r" b="b" t="t" l="l"/>
              <a:pathLst>
                <a:path h="914400" w="5244973">
                  <a:moveTo>
                    <a:pt x="0" y="0"/>
                  </a:moveTo>
                  <a:lnTo>
                    <a:pt x="5244973" y="0"/>
                  </a:lnTo>
                  <a:lnTo>
                    <a:pt x="5244973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18" r="0" b="-916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510935" y="4026170"/>
            <a:ext cx="3933749" cy="685800"/>
            <a:chOff x="0" y="0"/>
            <a:chExt cx="5244998" cy="9144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5244973" cy="914400"/>
            </a:xfrm>
            <a:custGeom>
              <a:avLst/>
              <a:gdLst/>
              <a:ahLst/>
              <a:cxnLst/>
              <a:rect r="r" b="b" t="t" l="l"/>
              <a:pathLst>
                <a:path h="914400" w="5244973">
                  <a:moveTo>
                    <a:pt x="0" y="0"/>
                  </a:moveTo>
                  <a:lnTo>
                    <a:pt x="5244973" y="0"/>
                  </a:lnTo>
                  <a:lnTo>
                    <a:pt x="5244973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918" r="0" b="-916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-285750" y="1143000"/>
            <a:ext cx="18859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4F46E5"/>
                </a:solidFill>
                <a:latin typeface="Inter Bold"/>
                <a:ea typeface="Inter Bold"/>
                <a:cs typeface="Inter Bold"/>
                <a:sym typeface="Inter Bold"/>
              </a:rPr>
              <a:t>THE ARCHITECTURE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285750" y="1676400"/>
            <a:ext cx="18859500" cy="73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8"/>
              </a:lnSpc>
            </a:pPr>
            <a:r>
              <a:rPr lang="en-US" sz="54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Three Key Pillars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43088" y="5150120"/>
            <a:ext cx="516304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Apache Spark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43088" y="5864495"/>
            <a:ext cx="4076624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Distributed big data processing.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43088" y="6778895"/>
            <a:ext cx="4076624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Handles 2.7M rows in parallel across CPU cores.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77011" y="5150120"/>
            <a:ext cx="516304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ALS Algorithm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177011" y="5864495"/>
            <a:ext cx="491718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recommendation brain.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177011" y="6378845"/>
            <a:ext cx="4076624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Alternating Least Squares matrix factorization.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10935" y="5150120"/>
            <a:ext cx="516304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Implicit Feedback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10935" y="5864495"/>
            <a:ext cx="491718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 explicit 5-star ratings.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10935" y="6378845"/>
            <a:ext cx="4076624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Preferences inferred entirely from raw shopping behavior.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F4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00700" y="7467895"/>
            <a:ext cx="7086600" cy="700088"/>
            <a:chOff x="0" y="0"/>
            <a:chExt cx="9448800" cy="9334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48800" cy="933450"/>
            </a:xfrm>
            <a:custGeom>
              <a:avLst/>
              <a:gdLst/>
              <a:ahLst/>
              <a:cxnLst/>
              <a:rect r="r" b="b" t="t" l="l"/>
              <a:pathLst>
                <a:path h="933450" w="9448800">
                  <a:moveTo>
                    <a:pt x="0" y="466725"/>
                  </a:moveTo>
                  <a:cubicBezTo>
                    <a:pt x="0" y="208915"/>
                    <a:pt x="208915" y="0"/>
                    <a:pt x="466725" y="0"/>
                  </a:cubicBezTo>
                  <a:lnTo>
                    <a:pt x="8982075" y="0"/>
                  </a:lnTo>
                  <a:cubicBezTo>
                    <a:pt x="9239885" y="0"/>
                    <a:pt x="9448800" y="208915"/>
                    <a:pt x="9448800" y="466725"/>
                  </a:cubicBezTo>
                  <a:cubicBezTo>
                    <a:pt x="9448800" y="724535"/>
                    <a:pt x="9239885" y="933450"/>
                    <a:pt x="8982075" y="933450"/>
                  </a:cubicBezTo>
                  <a:lnTo>
                    <a:pt x="466725" y="933450"/>
                  </a:lnTo>
                  <a:cubicBezTo>
                    <a:pt x="208915" y="933450"/>
                    <a:pt x="0" y="724535"/>
                    <a:pt x="0" y="466725"/>
                  </a:cubicBezTo>
                  <a:close/>
                </a:path>
              </a:pathLst>
            </a:custGeom>
            <a:solidFill>
              <a:srgbClr val="312E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0" y="2119017"/>
            <a:ext cx="1143000" cy="914400"/>
            <a:chOff x="0" y="0"/>
            <a:chExt cx="1524000" cy="12192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524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81" r="0" b="-78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96453" y="3652542"/>
            <a:ext cx="17895094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"You Are What You Click."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43250" y="5252742"/>
            <a:ext cx="12001500" cy="626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>
                <a:solidFill>
                  <a:srgbClr val="E0E7FF"/>
                </a:solidFill>
                <a:latin typeface="Inter"/>
                <a:ea typeface="Inter"/>
                <a:cs typeface="Inter"/>
                <a:sym typeface="Inter"/>
              </a:rPr>
              <a:t>The model never looks at product names or prices.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12847" y="6041231"/>
            <a:ext cx="12662297" cy="626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"Which users behaved similarly to you in the past?"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72075" y="7696495"/>
            <a:ext cx="794385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C7D2FE"/>
                </a:solidFill>
                <a:latin typeface="Inter Bold"/>
                <a:ea typeface="Inter Bold"/>
                <a:cs typeface="Inter Bold"/>
                <a:sym typeface="Inter Bold"/>
              </a:rPr>
              <a:t>THE CORE PRINCIPLE: COLLABORATIVE FILTERING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34882" y="6606407"/>
            <a:ext cx="571500" cy="57150"/>
            <a:chOff x="0" y="0"/>
            <a:chExt cx="76200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723900" y="0"/>
                  </a:lnTo>
                  <a:cubicBezTo>
                    <a:pt x="744982" y="0"/>
                    <a:pt x="762000" y="17018"/>
                    <a:pt x="762000" y="38100"/>
                  </a:cubicBezTo>
                  <a:cubicBezTo>
                    <a:pt x="762000" y="59182"/>
                    <a:pt x="744982" y="76200"/>
                    <a:pt x="723900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966896" y="6606407"/>
            <a:ext cx="571500" cy="57150"/>
            <a:chOff x="0" y="0"/>
            <a:chExt cx="7620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723900" y="0"/>
                  </a:lnTo>
                  <a:cubicBezTo>
                    <a:pt x="744982" y="0"/>
                    <a:pt x="762000" y="17018"/>
                    <a:pt x="762000" y="38100"/>
                  </a:cubicBezTo>
                  <a:cubicBezTo>
                    <a:pt x="762000" y="59182"/>
                    <a:pt x="744982" y="76200"/>
                    <a:pt x="723900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18814" y="4791894"/>
            <a:ext cx="1714500" cy="1714500"/>
            <a:chOff x="0" y="0"/>
            <a:chExt cx="2286000" cy="22860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28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329393" y="4791894"/>
            <a:ext cx="1714500" cy="1714500"/>
            <a:chOff x="0" y="0"/>
            <a:chExt cx="2286000" cy="2286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28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297101" y="4791894"/>
            <a:ext cx="1714500" cy="1714500"/>
            <a:chOff x="0" y="0"/>
            <a:chExt cx="2286000" cy="22860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286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790301" y="5306244"/>
            <a:ext cx="771525" cy="685800"/>
            <a:chOff x="0" y="0"/>
            <a:chExt cx="1028700" cy="9144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0287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3" r="0" b="-11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800881" y="5306244"/>
            <a:ext cx="771525" cy="685800"/>
            <a:chOff x="0" y="0"/>
            <a:chExt cx="1028700" cy="9144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10287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13" r="0" b="-113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854314" y="5306244"/>
            <a:ext cx="600075" cy="685800"/>
            <a:chOff x="0" y="0"/>
            <a:chExt cx="800100" cy="9144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800100" cy="914400"/>
            </a:xfrm>
            <a:custGeom>
              <a:avLst/>
              <a:gdLst/>
              <a:ahLst/>
              <a:cxnLst/>
              <a:rect r="r" b="b" t="t" l="l"/>
              <a:pathLst>
                <a:path h="9144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46" t="0" r="-146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-285750" y="1808712"/>
            <a:ext cx="18859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4F46E5"/>
                </a:solidFill>
                <a:latin typeface="Inter Bold"/>
                <a:ea typeface="Inter Bold"/>
                <a:cs typeface="Inter Bold"/>
                <a:sym typeface="Inter Bold"/>
              </a:rPr>
              <a:t>STEP 1: TRANSLATING BEHAVIOR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-285750" y="2342112"/>
            <a:ext cx="18859500" cy="73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8"/>
              </a:lnSpc>
            </a:pPr>
            <a:r>
              <a:rPr lang="en-US" sz="54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Implicit Feedback Scoring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-285750" y="3296469"/>
            <a:ext cx="188595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Assigning mathematical weight to raw user actions.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88420" y="7068369"/>
            <a:ext cx="2375297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2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1.0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88420" y="8097069"/>
            <a:ext cx="237529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true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Viewed Item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47181" y="7068369"/>
            <a:ext cx="2678906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200" b="true">
                <a:solidFill>
                  <a:srgbClr val="4F46E5"/>
                </a:solidFill>
                <a:latin typeface="Arimo Bold"/>
                <a:ea typeface="Arimo Bold"/>
                <a:cs typeface="Arimo Bold"/>
                <a:sym typeface="Arimo Bold"/>
              </a:rPr>
              <a:t>3.0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47181" y="8097069"/>
            <a:ext cx="267890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true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Added to Cart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020276" y="7068369"/>
            <a:ext cx="2268141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200" b="true">
                <a:solidFill>
                  <a:srgbClr val="059669"/>
                </a:solidFill>
                <a:latin typeface="Arimo Bold"/>
                <a:ea typeface="Arimo Bold"/>
                <a:cs typeface="Arimo Bold"/>
                <a:sym typeface="Arimo Bold"/>
              </a:rPr>
              <a:t>5.0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20276" y="8097069"/>
            <a:ext cx="2268141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true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Transaction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4456" y="3718989"/>
            <a:ext cx="15559088" cy="5432155"/>
            <a:chOff x="0" y="0"/>
            <a:chExt cx="20745450" cy="72428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45450" cy="7242810"/>
            </a:xfrm>
            <a:custGeom>
              <a:avLst/>
              <a:gdLst/>
              <a:ahLst/>
              <a:cxnLst/>
              <a:rect r="r" b="b" t="t" l="l"/>
              <a:pathLst>
                <a:path h="7242810" w="20745450">
                  <a:moveTo>
                    <a:pt x="0" y="229108"/>
                  </a:moveTo>
                  <a:cubicBezTo>
                    <a:pt x="0" y="102616"/>
                    <a:pt x="102616" y="0"/>
                    <a:pt x="229108" y="0"/>
                  </a:cubicBezTo>
                  <a:lnTo>
                    <a:pt x="20516342" y="0"/>
                  </a:lnTo>
                  <a:cubicBezTo>
                    <a:pt x="20642960" y="0"/>
                    <a:pt x="20745450" y="102616"/>
                    <a:pt x="20745450" y="229108"/>
                  </a:cubicBezTo>
                  <a:lnTo>
                    <a:pt x="20745450" y="7013702"/>
                  </a:lnTo>
                  <a:cubicBezTo>
                    <a:pt x="20745450" y="7140322"/>
                    <a:pt x="20642833" y="7242810"/>
                    <a:pt x="20516342" y="7242810"/>
                  </a:cubicBezTo>
                  <a:lnTo>
                    <a:pt x="229108" y="7242810"/>
                  </a:lnTo>
                  <a:cubicBezTo>
                    <a:pt x="102616" y="7242810"/>
                    <a:pt x="0" y="7140321"/>
                    <a:pt x="0" y="701370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236244" y="3740420"/>
            <a:ext cx="14288" cy="1085850"/>
            <a:chOff x="0" y="0"/>
            <a:chExt cx="19050" cy="1447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050">
                  <a:moveTo>
                    <a:pt x="0" y="0"/>
                  </a:moveTo>
                  <a:lnTo>
                    <a:pt x="19050" y="0"/>
                  </a:lnTo>
                  <a:lnTo>
                    <a:pt x="19050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290416" y="3740420"/>
            <a:ext cx="14288" cy="1085850"/>
            <a:chOff x="0" y="0"/>
            <a:chExt cx="19050" cy="1447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0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050">
                  <a:moveTo>
                    <a:pt x="0" y="0"/>
                  </a:moveTo>
                  <a:lnTo>
                    <a:pt x="19050" y="0"/>
                  </a:lnTo>
                  <a:lnTo>
                    <a:pt x="19050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478319" y="3740420"/>
            <a:ext cx="14288" cy="1085850"/>
            <a:chOff x="0" y="0"/>
            <a:chExt cx="19050" cy="1447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0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050">
                  <a:moveTo>
                    <a:pt x="0" y="0"/>
                  </a:moveTo>
                  <a:lnTo>
                    <a:pt x="19050" y="0"/>
                  </a:lnTo>
                  <a:lnTo>
                    <a:pt x="19050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666213" y="3740420"/>
            <a:ext cx="14288" cy="1085850"/>
            <a:chOff x="0" y="0"/>
            <a:chExt cx="19050" cy="1447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0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9050">
                  <a:moveTo>
                    <a:pt x="0" y="0"/>
                  </a:moveTo>
                  <a:lnTo>
                    <a:pt x="19050" y="0"/>
                  </a:lnTo>
                  <a:lnTo>
                    <a:pt x="19050" y="1447800"/>
                  </a:lnTo>
                  <a:lnTo>
                    <a:pt x="0" y="1447800"/>
                  </a:lnTo>
                  <a:close/>
                </a:path>
              </a:pathLst>
            </a:custGeom>
            <a:solidFill>
              <a:srgbClr val="33415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236244" y="4826270"/>
            <a:ext cx="14288" cy="1092994"/>
            <a:chOff x="0" y="0"/>
            <a:chExt cx="19050" cy="14573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050" cy="1457325"/>
            </a:xfrm>
            <a:custGeom>
              <a:avLst/>
              <a:gdLst/>
              <a:ahLst/>
              <a:cxnLst/>
              <a:rect r="r" b="b" t="t" l="l"/>
              <a:pathLst>
                <a:path h="1457325" w="19050">
                  <a:moveTo>
                    <a:pt x="0" y="0"/>
                  </a:moveTo>
                  <a:lnTo>
                    <a:pt x="19050" y="0"/>
                  </a:lnTo>
                  <a:lnTo>
                    <a:pt x="19050" y="1457325"/>
                  </a:lnTo>
                  <a:lnTo>
                    <a:pt x="0" y="1457325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290416" y="4826270"/>
            <a:ext cx="14288" cy="1092994"/>
            <a:chOff x="0" y="0"/>
            <a:chExt cx="19050" cy="14573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050" cy="1457325"/>
            </a:xfrm>
            <a:custGeom>
              <a:avLst/>
              <a:gdLst/>
              <a:ahLst/>
              <a:cxnLst/>
              <a:rect r="r" b="b" t="t" l="l"/>
              <a:pathLst>
                <a:path h="1457325" w="19050">
                  <a:moveTo>
                    <a:pt x="0" y="0"/>
                  </a:moveTo>
                  <a:lnTo>
                    <a:pt x="19050" y="0"/>
                  </a:lnTo>
                  <a:lnTo>
                    <a:pt x="19050" y="1457325"/>
                  </a:lnTo>
                  <a:lnTo>
                    <a:pt x="0" y="1457325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478319" y="4826270"/>
            <a:ext cx="14288" cy="1092994"/>
            <a:chOff x="0" y="0"/>
            <a:chExt cx="19050" cy="14573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050" cy="1457325"/>
            </a:xfrm>
            <a:custGeom>
              <a:avLst/>
              <a:gdLst/>
              <a:ahLst/>
              <a:cxnLst/>
              <a:rect r="r" b="b" t="t" l="l"/>
              <a:pathLst>
                <a:path h="1457325" w="19050">
                  <a:moveTo>
                    <a:pt x="0" y="0"/>
                  </a:moveTo>
                  <a:lnTo>
                    <a:pt x="19050" y="0"/>
                  </a:lnTo>
                  <a:lnTo>
                    <a:pt x="19050" y="1457325"/>
                  </a:lnTo>
                  <a:lnTo>
                    <a:pt x="0" y="1457325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666213" y="4826270"/>
            <a:ext cx="14288" cy="1092994"/>
            <a:chOff x="0" y="0"/>
            <a:chExt cx="19050" cy="14573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050" cy="1457325"/>
            </a:xfrm>
            <a:custGeom>
              <a:avLst/>
              <a:gdLst/>
              <a:ahLst/>
              <a:cxnLst/>
              <a:rect r="r" b="b" t="t" l="l"/>
              <a:pathLst>
                <a:path h="1457325" w="19050">
                  <a:moveTo>
                    <a:pt x="0" y="0"/>
                  </a:moveTo>
                  <a:lnTo>
                    <a:pt x="19050" y="0"/>
                  </a:lnTo>
                  <a:lnTo>
                    <a:pt x="19050" y="1457325"/>
                  </a:lnTo>
                  <a:lnTo>
                    <a:pt x="0" y="1457325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236244" y="5919264"/>
            <a:ext cx="14288" cy="1100138"/>
            <a:chOff x="0" y="0"/>
            <a:chExt cx="19050" cy="14668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050" cy="1466850"/>
            </a:xfrm>
            <a:custGeom>
              <a:avLst/>
              <a:gdLst/>
              <a:ahLst/>
              <a:cxnLst/>
              <a:rect r="r" b="b" t="t" l="l"/>
              <a:pathLst>
                <a:path h="1466850" w="19050">
                  <a:moveTo>
                    <a:pt x="0" y="0"/>
                  </a:moveTo>
                  <a:lnTo>
                    <a:pt x="19050" y="0"/>
                  </a:lnTo>
                  <a:lnTo>
                    <a:pt x="19050" y="1466850"/>
                  </a:lnTo>
                  <a:lnTo>
                    <a:pt x="0" y="14668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290416" y="5919264"/>
            <a:ext cx="14288" cy="1100138"/>
            <a:chOff x="0" y="0"/>
            <a:chExt cx="19050" cy="14668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050" cy="1466850"/>
            </a:xfrm>
            <a:custGeom>
              <a:avLst/>
              <a:gdLst/>
              <a:ahLst/>
              <a:cxnLst/>
              <a:rect r="r" b="b" t="t" l="l"/>
              <a:pathLst>
                <a:path h="1466850" w="19050">
                  <a:moveTo>
                    <a:pt x="0" y="0"/>
                  </a:moveTo>
                  <a:lnTo>
                    <a:pt x="19050" y="0"/>
                  </a:lnTo>
                  <a:lnTo>
                    <a:pt x="19050" y="1466850"/>
                  </a:lnTo>
                  <a:lnTo>
                    <a:pt x="0" y="14668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478319" y="5919264"/>
            <a:ext cx="14288" cy="1100138"/>
            <a:chOff x="0" y="0"/>
            <a:chExt cx="19050" cy="14668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050" cy="1466850"/>
            </a:xfrm>
            <a:custGeom>
              <a:avLst/>
              <a:gdLst/>
              <a:ahLst/>
              <a:cxnLst/>
              <a:rect r="r" b="b" t="t" l="l"/>
              <a:pathLst>
                <a:path h="1466850" w="19050">
                  <a:moveTo>
                    <a:pt x="0" y="0"/>
                  </a:moveTo>
                  <a:lnTo>
                    <a:pt x="19050" y="0"/>
                  </a:lnTo>
                  <a:lnTo>
                    <a:pt x="19050" y="1466850"/>
                  </a:lnTo>
                  <a:lnTo>
                    <a:pt x="0" y="14668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666213" y="5919264"/>
            <a:ext cx="14288" cy="1100138"/>
            <a:chOff x="0" y="0"/>
            <a:chExt cx="19050" cy="14668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050" cy="1466850"/>
            </a:xfrm>
            <a:custGeom>
              <a:avLst/>
              <a:gdLst/>
              <a:ahLst/>
              <a:cxnLst/>
              <a:rect r="r" b="b" t="t" l="l"/>
              <a:pathLst>
                <a:path h="1466850" w="19050">
                  <a:moveTo>
                    <a:pt x="0" y="0"/>
                  </a:moveTo>
                  <a:lnTo>
                    <a:pt x="19050" y="0"/>
                  </a:lnTo>
                  <a:lnTo>
                    <a:pt x="19050" y="1466850"/>
                  </a:lnTo>
                  <a:lnTo>
                    <a:pt x="0" y="14668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236244" y="7019401"/>
            <a:ext cx="14288" cy="1100138"/>
            <a:chOff x="0" y="0"/>
            <a:chExt cx="19050" cy="14668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050" cy="1466850"/>
            </a:xfrm>
            <a:custGeom>
              <a:avLst/>
              <a:gdLst/>
              <a:ahLst/>
              <a:cxnLst/>
              <a:rect r="r" b="b" t="t" l="l"/>
              <a:pathLst>
                <a:path h="1466850" w="19050">
                  <a:moveTo>
                    <a:pt x="0" y="0"/>
                  </a:moveTo>
                  <a:lnTo>
                    <a:pt x="19050" y="0"/>
                  </a:lnTo>
                  <a:lnTo>
                    <a:pt x="19050" y="1466850"/>
                  </a:lnTo>
                  <a:lnTo>
                    <a:pt x="0" y="14668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290416" y="7019401"/>
            <a:ext cx="14288" cy="1100138"/>
            <a:chOff x="0" y="0"/>
            <a:chExt cx="19050" cy="14668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050" cy="1466850"/>
            </a:xfrm>
            <a:custGeom>
              <a:avLst/>
              <a:gdLst/>
              <a:ahLst/>
              <a:cxnLst/>
              <a:rect r="r" b="b" t="t" l="l"/>
              <a:pathLst>
                <a:path h="1466850" w="19050">
                  <a:moveTo>
                    <a:pt x="0" y="0"/>
                  </a:moveTo>
                  <a:lnTo>
                    <a:pt x="19050" y="0"/>
                  </a:lnTo>
                  <a:lnTo>
                    <a:pt x="19050" y="1466850"/>
                  </a:lnTo>
                  <a:lnTo>
                    <a:pt x="0" y="14668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478319" y="7019401"/>
            <a:ext cx="14288" cy="1100138"/>
            <a:chOff x="0" y="0"/>
            <a:chExt cx="19050" cy="14668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050" cy="1466850"/>
            </a:xfrm>
            <a:custGeom>
              <a:avLst/>
              <a:gdLst/>
              <a:ahLst/>
              <a:cxnLst/>
              <a:rect r="r" b="b" t="t" l="l"/>
              <a:pathLst>
                <a:path h="1466850" w="19050">
                  <a:moveTo>
                    <a:pt x="0" y="0"/>
                  </a:moveTo>
                  <a:lnTo>
                    <a:pt x="19050" y="0"/>
                  </a:lnTo>
                  <a:lnTo>
                    <a:pt x="19050" y="1466850"/>
                  </a:lnTo>
                  <a:lnTo>
                    <a:pt x="0" y="14668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666213" y="7019401"/>
            <a:ext cx="14288" cy="1100138"/>
            <a:chOff x="0" y="0"/>
            <a:chExt cx="19050" cy="14668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050" cy="1466850"/>
            </a:xfrm>
            <a:custGeom>
              <a:avLst/>
              <a:gdLst/>
              <a:ahLst/>
              <a:cxnLst/>
              <a:rect r="r" b="b" t="t" l="l"/>
              <a:pathLst>
                <a:path h="1466850" w="19050">
                  <a:moveTo>
                    <a:pt x="0" y="0"/>
                  </a:moveTo>
                  <a:lnTo>
                    <a:pt x="19050" y="0"/>
                  </a:lnTo>
                  <a:lnTo>
                    <a:pt x="19050" y="1466850"/>
                  </a:lnTo>
                  <a:lnTo>
                    <a:pt x="0" y="14668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4236244" y="8119539"/>
            <a:ext cx="14288" cy="1092994"/>
            <a:chOff x="0" y="0"/>
            <a:chExt cx="19050" cy="145732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050" cy="1457325"/>
            </a:xfrm>
            <a:custGeom>
              <a:avLst/>
              <a:gdLst/>
              <a:ahLst/>
              <a:cxnLst/>
              <a:rect r="r" b="b" t="t" l="l"/>
              <a:pathLst>
                <a:path h="1457325" w="19050">
                  <a:moveTo>
                    <a:pt x="0" y="0"/>
                  </a:moveTo>
                  <a:lnTo>
                    <a:pt x="19050" y="0"/>
                  </a:lnTo>
                  <a:lnTo>
                    <a:pt x="19050" y="1457325"/>
                  </a:lnTo>
                  <a:lnTo>
                    <a:pt x="0" y="1457325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290416" y="8119539"/>
            <a:ext cx="14288" cy="1092994"/>
            <a:chOff x="0" y="0"/>
            <a:chExt cx="19050" cy="145732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050" cy="1457325"/>
            </a:xfrm>
            <a:custGeom>
              <a:avLst/>
              <a:gdLst/>
              <a:ahLst/>
              <a:cxnLst/>
              <a:rect r="r" b="b" t="t" l="l"/>
              <a:pathLst>
                <a:path h="1457325" w="19050">
                  <a:moveTo>
                    <a:pt x="0" y="0"/>
                  </a:moveTo>
                  <a:lnTo>
                    <a:pt x="19050" y="0"/>
                  </a:lnTo>
                  <a:lnTo>
                    <a:pt x="19050" y="1457325"/>
                  </a:lnTo>
                  <a:lnTo>
                    <a:pt x="0" y="1457325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478319" y="8119539"/>
            <a:ext cx="14288" cy="1092994"/>
            <a:chOff x="0" y="0"/>
            <a:chExt cx="19050" cy="145732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050" cy="1457325"/>
            </a:xfrm>
            <a:custGeom>
              <a:avLst/>
              <a:gdLst/>
              <a:ahLst/>
              <a:cxnLst/>
              <a:rect r="r" b="b" t="t" l="l"/>
              <a:pathLst>
                <a:path h="1457325" w="19050">
                  <a:moveTo>
                    <a:pt x="0" y="0"/>
                  </a:moveTo>
                  <a:lnTo>
                    <a:pt x="19050" y="0"/>
                  </a:lnTo>
                  <a:lnTo>
                    <a:pt x="19050" y="1457325"/>
                  </a:lnTo>
                  <a:lnTo>
                    <a:pt x="0" y="1457325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666213" y="8119539"/>
            <a:ext cx="14288" cy="1092994"/>
            <a:chOff x="0" y="0"/>
            <a:chExt cx="19050" cy="145732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050" cy="1457325"/>
            </a:xfrm>
            <a:custGeom>
              <a:avLst/>
              <a:gdLst/>
              <a:ahLst/>
              <a:cxnLst/>
              <a:rect r="r" b="b" t="t" l="l"/>
              <a:pathLst>
                <a:path h="1457325" w="19050">
                  <a:moveTo>
                    <a:pt x="0" y="0"/>
                  </a:moveTo>
                  <a:lnTo>
                    <a:pt x="19050" y="0"/>
                  </a:lnTo>
                  <a:lnTo>
                    <a:pt x="19050" y="1457325"/>
                  </a:lnTo>
                  <a:lnTo>
                    <a:pt x="0" y="1457325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aphicFrame>
        <p:nvGraphicFramePr>
          <p:cNvPr name="Table 44" id="44"/>
          <p:cNvGraphicFramePr>
            <a:graphicFrameLocks noGrp="true"/>
          </p:cNvGraphicFramePr>
          <p:nvPr/>
        </p:nvGraphicFramePr>
        <p:xfrm>
          <a:off x="1385888" y="3740422"/>
          <a:ext cx="15487650" cy="5429250"/>
        </p:xfrm>
        <a:graphic>
          <a:graphicData uri="http://schemas.openxmlformats.org/drawingml/2006/table">
            <a:tbl>
              <a:tblPr/>
              <a:tblGrid>
                <a:gridCol w="2859368"/>
                <a:gridCol w="3048552"/>
                <a:gridCol w="3182028"/>
                <a:gridCol w="3182028"/>
                <a:gridCol w="3215675"/>
              </a:tblGrid>
              <a:tr h="1085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0"/>
                        </a:lnSpc>
                        <a:defRPr/>
                      </a:pPr>
                      <a:r>
                        <a:rPr lang="en-US" sz="2475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User ID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2475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Item 101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2475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Item 202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2475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Item 303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2475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Item 404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085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0"/>
                        </a:lnSpc>
                        <a:defRPr/>
                      </a:pPr>
                      <a:r>
                        <a:rPr lang="en-US" sz="2475" b="true">
                          <a:solidFill>
                            <a:srgbClr val="0F172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684514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2475" b="true">
                          <a:solidFill>
                            <a:srgbClr val="6366F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1.0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2475" b="true">
                          <a:solidFill>
                            <a:srgbClr val="4F46E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3.0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2475">
                          <a:solidFill>
                            <a:srgbClr val="0F172A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2475" b="true">
                          <a:solidFill>
                            <a:srgbClr val="059669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5.0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0"/>
                        </a:lnSpc>
                        <a:defRPr/>
                      </a:pPr>
                      <a:r>
                        <a:rPr lang="en-US" sz="2475" b="true">
                          <a:solidFill>
                            <a:srgbClr val="0F172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599528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2475">
                          <a:solidFill>
                            <a:srgbClr val="0F172A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2475" b="true">
                          <a:solidFill>
                            <a:srgbClr val="6366F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1.0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2475" b="true">
                          <a:solidFill>
                            <a:srgbClr val="6366F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1.0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2475">
                          <a:solidFill>
                            <a:srgbClr val="0F172A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0"/>
                        </a:lnSpc>
                        <a:defRPr/>
                      </a:pPr>
                      <a:r>
                        <a:rPr lang="en-US" sz="2475" b="true">
                          <a:solidFill>
                            <a:srgbClr val="0F172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158090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2475" b="true">
                          <a:solidFill>
                            <a:srgbClr val="059669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5.0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2475">
                          <a:solidFill>
                            <a:srgbClr val="0F172A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2475" b="true">
                          <a:solidFill>
                            <a:srgbClr val="4F46E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3.0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2475">
                          <a:solidFill>
                            <a:srgbClr val="0F172A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0"/>
                        </a:lnSpc>
                        <a:defRPr/>
                      </a:pPr>
                      <a:r>
                        <a:rPr lang="en-US" sz="2475" b="true">
                          <a:solidFill>
                            <a:srgbClr val="0F172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102019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2475">
                          <a:solidFill>
                            <a:srgbClr val="0F172A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2475">
                          <a:solidFill>
                            <a:srgbClr val="0F172A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2475" b="true">
                          <a:solidFill>
                            <a:srgbClr val="6366F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1.0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70"/>
                        </a:lnSpc>
                        <a:defRPr/>
                      </a:pPr>
                      <a:r>
                        <a:rPr lang="en-US" sz="2475" b="true">
                          <a:solidFill>
                            <a:srgbClr val="4F46E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3.0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45" id="45"/>
          <p:cNvSpPr txBox="true"/>
          <p:nvPr/>
        </p:nvSpPr>
        <p:spPr>
          <a:xfrm rot="0">
            <a:off x="1371600" y="1143000"/>
            <a:ext cx="169164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F46E5"/>
                </a:solidFill>
                <a:latin typeface="Inter Bold"/>
                <a:ea typeface="Inter Bold"/>
                <a:cs typeface="Inter Bold"/>
                <a:sym typeface="Inter Bold"/>
              </a:rPr>
              <a:t>STEP 1 CONTINUED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71600" y="1676400"/>
            <a:ext cx="16916400" cy="73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8"/>
              </a:lnSpc>
            </a:pPr>
            <a:r>
              <a:rPr lang="en-US" sz="54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The User-Item Matrix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71600" y="2592657"/>
            <a:ext cx="169164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100,000 users × 109,845 items. Extremely sparse (mostly zeros).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57750" y="3326082"/>
            <a:ext cx="8572500" cy="1943100"/>
            <a:chOff x="0" y="0"/>
            <a:chExt cx="11430000" cy="2590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30000" cy="2590800"/>
            </a:xfrm>
            <a:custGeom>
              <a:avLst/>
              <a:gdLst/>
              <a:ahLst/>
              <a:cxnLst/>
              <a:rect r="r" b="b" t="t" l="l"/>
              <a:pathLst>
                <a:path h="2590800" w="114300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1201400" y="0"/>
                  </a:lnTo>
                  <a:cubicBezTo>
                    <a:pt x="11327638" y="0"/>
                    <a:pt x="11430000" y="102362"/>
                    <a:pt x="11430000" y="228600"/>
                  </a:cubicBezTo>
                  <a:lnTo>
                    <a:pt x="11430000" y="2362200"/>
                  </a:lnTo>
                  <a:cubicBezTo>
                    <a:pt x="11430000" y="2488438"/>
                    <a:pt x="11327638" y="2590800"/>
                    <a:pt x="11201400" y="2590800"/>
                  </a:cubicBezTo>
                  <a:lnTo>
                    <a:pt x="228600" y="2590800"/>
                  </a:lnTo>
                  <a:cubicBezTo>
                    <a:pt x="102362" y="2590800"/>
                    <a:pt x="0" y="2488438"/>
                    <a:pt x="0" y="236220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357562" y="6855095"/>
            <a:ext cx="5172075" cy="2414588"/>
            <a:chOff x="0" y="0"/>
            <a:chExt cx="6896100" cy="32194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96100" cy="3219450"/>
            </a:xfrm>
            <a:custGeom>
              <a:avLst/>
              <a:gdLst/>
              <a:ahLst/>
              <a:cxnLst/>
              <a:rect r="r" b="b" t="t" l="l"/>
              <a:pathLst>
                <a:path h="3219450" w="6896100">
                  <a:moveTo>
                    <a:pt x="0" y="231267"/>
                  </a:moveTo>
                  <a:cubicBezTo>
                    <a:pt x="0" y="103505"/>
                    <a:pt x="103505" y="0"/>
                    <a:pt x="231267" y="0"/>
                  </a:cubicBezTo>
                  <a:lnTo>
                    <a:pt x="6664833" y="0"/>
                  </a:lnTo>
                  <a:cubicBezTo>
                    <a:pt x="6792595" y="0"/>
                    <a:pt x="6896100" y="103505"/>
                    <a:pt x="6896100" y="231267"/>
                  </a:cubicBezTo>
                  <a:lnTo>
                    <a:pt x="6896100" y="2988183"/>
                  </a:lnTo>
                  <a:cubicBezTo>
                    <a:pt x="6896100" y="3115945"/>
                    <a:pt x="6792595" y="3219450"/>
                    <a:pt x="6664833" y="3219450"/>
                  </a:cubicBezTo>
                  <a:lnTo>
                    <a:pt x="231267" y="3219450"/>
                  </a:lnTo>
                  <a:cubicBezTo>
                    <a:pt x="103505" y="3219450"/>
                    <a:pt x="0" y="3115945"/>
                    <a:pt x="0" y="2988183"/>
                  </a:cubicBezTo>
                  <a:close/>
                </a:path>
              </a:pathLst>
            </a:custGeom>
            <a:solidFill>
              <a:srgbClr val="E0E7FF"/>
            </a:solidFill>
            <a:ln w="28575" cap="sq">
              <a:solidFill>
                <a:srgbClr val="4F46E5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758362" y="6855095"/>
            <a:ext cx="5172075" cy="2414588"/>
            <a:chOff x="0" y="0"/>
            <a:chExt cx="6896100" cy="32194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96100" cy="3219450"/>
            </a:xfrm>
            <a:custGeom>
              <a:avLst/>
              <a:gdLst/>
              <a:ahLst/>
              <a:cxnLst/>
              <a:rect r="r" b="b" t="t" l="l"/>
              <a:pathLst>
                <a:path h="3219450" w="6896100">
                  <a:moveTo>
                    <a:pt x="0" y="231267"/>
                  </a:moveTo>
                  <a:cubicBezTo>
                    <a:pt x="0" y="103505"/>
                    <a:pt x="103505" y="0"/>
                    <a:pt x="231267" y="0"/>
                  </a:cubicBezTo>
                  <a:lnTo>
                    <a:pt x="6664833" y="0"/>
                  </a:lnTo>
                  <a:cubicBezTo>
                    <a:pt x="6792595" y="0"/>
                    <a:pt x="6896100" y="103505"/>
                    <a:pt x="6896100" y="231267"/>
                  </a:cubicBezTo>
                  <a:lnTo>
                    <a:pt x="6896100" y="2988183"/>
                  </a:lnTo>
                  <a:cubicBezTo>
                    <a:pt x="6896100" y="3115945"/>
                    <a:pt x="6792595" y="3219450"/>
                    <a:pt x="6664833" y="3219450"/>
                  </a:cubicBezTo>
                  <a:lnTo>
                    <a:pt x="231267" y="3219450"/>
                  </a:lnTo>
                  <a:cubicBezTo>
                    <a:pt x="103505" y="3219450"/>
                    <a:pt x="0" y="3115945"/>
                    <a:pt x="0" y="2988183"/>
                  </a:cubicBezTo>
                  <a:close/>
                </a:path>
              </a:pathLst>
            </a:custGeom>
            <a:solidFill>
              <a:srgbClr val="E0E7FF"/>
            </a:solidFill>
            <a:ln w="28575" cap="sq">
              <a:solidFill>
                <a:srgbClr val="4F46E5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7272338" y="5840682"/>
            <a:ext cx="342900" cy="457200"/>
            <a:chOff x="0" y="0"/>
            <a:chExt cx="457200" cy="6096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45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562" r="0" b="-156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672762" y="5840682"/>
            <a:ext cx="342900" cy="457200"/>
            <a:chOff x="0" y="0"/>
            <a:chExt cx="457200" cy="6096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45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562" r="0" b="-156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72550" y="7833789"/>
            <a:ext cx="342900" cy="457200"/>
            <a:chOff x="0" y="0"/>
            <a:chExt cx="457200" cy="6096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457200" cy="609600"/>
            </a:xfrm>
            <a:custGeom>
              <a:avLst/>
              <a:gdLst/>
              <a:ahLst/>
              <a:cxnLst/>
              <a:rect r="r" b="b" t="t" l="l"/>
              <a:pathLst>
                <a:path h="6096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62" r="0" b="-1562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71600" y="1143000"/>
            <a:ext cx="169164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F46E5"/>
                </a:solidFill>
                <a:latin typeface="Inter Bold"/>
                <a:ea typeface="Inter Bold"/>
                <a:cs typeface="Inter Bold"/>
                <a:sym typeface="Inter Bold"/>
              </a:rPr>
              <a:t>STEP 2: ALS SPLITTING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600" y="1676400"/>
            <a:ext cx="16916400" cy="73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8"/>
              </a:lnSpc>
            </a:pPr>
            <a:r>
              <a:rPr lang="en-US" sz="54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Matrix Factorization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29188" y="3754707"/>
            <a:ext cx="8429625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Big Matrix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29188" y="4450032"/>
            <a:ext cx="842962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(100K Users × 109K Items)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58138" y="5888307"/>
            <a:ext cx="296465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ALS SPLITS INTO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36131" y="7336107"/>
            <a:ext cx="521493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User Matrix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336131" y="7964757"/>
            <a:ext cx="5214938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(100K × 20)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336131" y="8483870"/>
            <a:ext cx="521493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4F46E5"/>
                </a:solidFill>
                <a:latin typeface="Inter Bold"/>
                <a:ea typeface="Inter Bold"/>
                <a:cs typeface="Inter Bold"/>
                <a:sym typeface="Inter Bold"/>
              </a:rPr>
              <a:t>20-Rank "Taste Vector"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36931" y="7336107"/>
            <a:ext cx="521493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Item Matrix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36931" y="7964757"/>
            <a:ext cx="5214938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(20 × 109K)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36931" y="8483870"/>
            <a:ext cx="521493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4F46E5"/>
                </a:solidFill>
                <a:latin typeface="Inter Bold"/>
                <a:ea typeface="Inter Bold"/>
                <a:cs typeface="Inter Bold"/>
                <a:sym typeface="Inter Bold"/>
              </a:rPr>
              <a:t>20-Rank "Feature Vector"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600" y="5470550"/>
            <a:ext cx="15544800" cy="2514600"/>
            <a:chOff x="0" y="0"/>
            <a:chExt cx="20726400" cy="335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26400" cy="3352800"/>
            </a:xfrm>
            <a:custGeom>
              <a:avLst/>
              <a:gdLst/>
              <a:ahLst/>
              <a:cxnLst/>
              <a:rect r="r" b="b" t="t" l="l"/>
              <a:pathLst>
                <a:path h="3352800" w="207264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20497800" y="0"/>
                  </a:lnTo>
                  <a:cubicBezTo>
                    <a:pt x="20624037" y="0"/>
                    <a:pt x="20726400" y="102362"/>
                    <a:pt x="20726400" y="228600"/>
                  </a:cubicBezTo>
                  <a:lnTo>
                    <a:pt x="20726400" y="3124200"/>
                  </a:lnTo>
                  <a:cubicBezTo>
                    <a:pt x="20726400" y="3250438"/>
                    <a:pt x="20624037" y="3352800"/>
                    <a:pt x="20497800" y="3352800"/>
                  </a:cubicBezTo>
                  <a:lnTo>
                    <a:pt x="228600" y="3352800"/>
                  </a:lnTo>
                  <a:cubicBezTo>
                    <a:pt x="102362" y="3352800"/>
                    <a:pt x="0" y="3250438"/>
                    <a:pt x="0" y="312420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71600" y="3927500"/>
            <a:ext cx="7200900" cy="857250"/>
            <a:chOff x="0" y="0"/>
            <a:chExt cx="9601200" cy="1143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601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96012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9448800" y="0"/>
                  </a:lnTo>
                  <a:cubicBezTo>
                    <a:pt x="9533001" y="0"/>
                    <a:pt x="9601200" y="68199"/>
                    <a:pt x="9601200" y="152400"/>
                  </a:cubicBezTo>
                  <a:lnTo>
                    <a:pt x="9601200" y="990600"/>
                  </a:lnTo>
                  <a:cubicBezTo>
                    <a:pt x="9601200" y="1074801"/>
                    <a:pt x="9533001" y="1143000"/>
                    <a:pt x="9448800" y="1143000"/>
                  </a:cubicBezTo>
                  <a:lnTo>
                    <a:pt x="152400" y="1143000"/>
                  </a:lnTo>
                  <a:cubicBezTo>
                    <a:pt x="68199" y="1143000"/>
                    <a:pt x="0" y="1074801"/>
                    <a:pt x="0" y="990600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715500" y="3927500"/>
            <a:ext cx="7200900" cy="857250"/>
            <a:chOff x="0" y="0"/>
            <a:chExt cx="9601200" cy="1143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01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96012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9448800" y="0"/>
                  </a:lnTo>
                  <a:cubicBezTo>
                    <a:pt x="9533001" y="0"/>
                    <a:pt x="9601200" y="68199"/>
                    <a:pt x="9601200" y="152400"/>
                  </a:cubicBezTo>
                  <a:lnTo>
                    <a:pt x="9601200" y="990600"/>
                  </a:lnTo>
                  <a:cubicBezTo>
                    <a:pt x="9601200" y="1074801"/>
                    <a:pt x="9533001" y="1143000"/>
                    <a:pt x="9448800" y="1143000"/>
                  </a:cubicBezTo>
                  <a:lnTo>
                    <a:pt x="152400" y="1143000"/>
                  </a:lnTo>
                  <a:cubicBezTo>
                    <a:pt x="68199" y="1143000"/>
                    <a:pt x="0" y="1074801"/>
                    <a:pt x="0" y="990600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029700" y="4034657"/>
            <a:ext cx="228600" cy="228600"/>
            <a:chOff x="0" y="0"/>
            <a:chExt cx="304800" cy="3048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125" r="0" b="-312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71600" y="1143000"/>
            <a:ext cx="169164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F46E5"/>
                </a:solidFill>
                <a:latin typeface="Inter Bold"/>
                <a:ea typeface="Inter Bold"/>
                <a:cs typeface="Inter Bold"/>
                <a:sym typeface="Inter Bold"/>
              </a:rPr>
              <a:t>STEP 3: PREDICTION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1600" y="1676400"/>
            <a:ext cx="16916400" cy="73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8"/>
              </a:lnSpc>
            </a:pPr>
            <a:r>
              <a:rPr lang="en-US" sz="54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Scoring via Dot Product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285750" y="8509025"/>
            <a:ext cx="188595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4F46E5"/>
                </a:solidFill>
                <a:latin typeface="Inter Bold"/>
                <a:ea typeface="Inter Bold"/>
                <a:cs typeface="Inter Bold"/>
                <a:sym typeface="Inter Bold"/>
              </a:rPr>
              <a:t>Calculate for all unseen items → Rank → Return Top 5.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5750" y="6127775"/>
            <a:ext cx="177165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(0.8 × 0.7) + (0.2 × 0.3) + ... = </a:t>
            </a:r>
            <a:r>
              <a:rPr lang="en-US" sz="3600" b="true">
                <a:solidFill>
                  <a:srgbClr val="34D399"/>
                </a:solidFill>
                <a:latin typeface="Arimo Bold"/>
                <a:ea typeface="Arimo Bold"/>
                <a:cs typeface="Arimo Bold"/>
                <a:sym typeface="Arimo Bold"/>
              </a:rPr>
              <a:t>3.92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5750" y="6946925"/>
            <a:ext cx="177165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Higher Score = Higher Recommendation Likelihood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600" y="3503638"/>
            <a:ext cx="9001125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4748B"/>
                </a:solidFill>
                <a:latin typeface="Inter Bold"/>
                <a:ea typeface="Inter Bold"/>
                <a:cs typeface="Inter Bold"/>
                <a:sym typeface="Inter Bold"/>
              </a:rPr>
              <a:t>USER 684514 VECTOR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00200" y="4137050"/>
            <a:ext cx="688657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[0.8, 0.2, 0.5, 0.1, 0.9, ...]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15500" y="3503638"/>
            <a:ext cx="85725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64748B"/>
                </a:solidFill>
                <a:latin typeface="Inter Bold"/>
                <a:ea typeface="Inter Bold"/>
                <a:cs typeface="Inter Bold"/>
                <a:sym typeface="Inter Bold"/>
              </a:rPr>
              <a:t>ITEM 218942 VECTOR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44100" y="4137050"/>
            <a:ext cx="688657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[0.7, 0.3, 0.4, 0.2, 0.8, ...]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600" y="3326082"/>
            <a:ext cx="15544800" cy="1685925"/>
            <a:chOff x="0" y="0"/>
            <a:chExt cx="20726400" cy="2247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26400" cy="2247900"/>
            </a:xfrm>
            <a:custGeom>
              <a:avLst/>
              <a:gdLst/>
              <a:ahLst/>
              <a:cxnLst/>
              <a:rect r="r" b="b" t="t" l="l"/>
              <a:pathLst>
                <a:path h="2247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247900"/>
                  </a:lnTo>
                  <a:lnTo>
                    <a:pt x="0" y="22479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71600" y="5354907"/>
            <a:ext cx="15544800" cy="1685925"/>
            <a:chOff x="0" y="0"/>
            <a:chExt cx="20726400" cy="2247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2247900"/>
            </a:xfrm>
            <a:custGeom>
              <a:avLst/>
              <a:gdLst/>
              <a:ahLst/>
              <a:cxnLst/>
              <a:rect r="r" b="b" t="t" l="l"/>
              <a:pathLst>
                <a:path h="2247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247900"/>
                  </a:lnTo>
                  <a:lnTo>
                    <a:pt x="0" y="22479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1600" y="7383732"/>
            <a:ext cx="15544800" cy="1685925"/>
            <a:chOff x="0" y="0"/>
            <a:chExt cx="20726400" cy="2247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2247900"/>
            </a:xfrm>
            <a:custGeom>
              <a:avLst/>
              <a:gdLst/>
              <a:ahLst/>
              <a:cxnLst/>
              <a:rect r="r" b="b" t="t" l="l"/>
              <a:pathLst>
                <a:path h="2247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247900"/>
                  </a:lnTo>
                  <a:lnTo>
                    <a:pt x="0" y="22479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71600" y="3326082"/>
            <a:ext cx="85725" cy="1685925"/>
            <a:chOff x="0" y="0"/>
            <a:chExt cx="114300" cy="2247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300" cy="2247900"/>
            </a:xfrm>
            <a:custGeom>
              <a:avLst/>
              <a:gdLst/>
              <a:ahLst/>
              <a:cxnLst/>
              <a:rect r="r" b="b" t="t" l="l"/>
              <a:pathLst>
                <a:path h="22479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2247900"/>
                  </a:lnTo>
                  <a:lnTo>
                    <a:pt x="0" y="2247900"/>
                  </a:ln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71600" y="5354907"/>
            <a:ext cx="85725" cy="1685925"/>
            <a:chOff x="0" y="0"/>
            <a:chExt cx="114300" cy="2247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300" cy="2247900"/>
            </a:xfrm>
            <a:custGeom>
              <a:avLst/>
              <a:gdLst/>
              <a:ahLst/>
              <a:cxnLst/>
              <a:rect r="r" b="b" t="t" l="l"/>
              <a:pathLst>
                <a:path h="22479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2247900"/>
                  </a:lnTo>
                  <a:lnTo>
                    <a:pt x="0" y="2247900"/>
                  </a:lnTo>
                  <a:close/>
                </a:path>
              </a:pathLst>
            </a:custGeom>
            <a:solidFill>
              <a:srgbClr val="818CF8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71600" y="7383732"/>
            <a:ext cx="85725" cy="1685925"/>
            <a:chOff x="0" y="0"/>
            <a:chExt cx="114300" cy="22479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4300" cy="2247900"/>
            </a:xfrm>
            <a:custGeom>
              <a:avLst/>
              <a:gdLst/>
              <a:ahLst/>
              <a:cxnLst/>
              <a:rect r="r" b="b" t="t" l="l"/>
              <a:pathLst>
                <a:path h="22479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2247900"/>
                  </a:lnTo>
                  <a:lnTo>
                    <a:pt x="0" y="2247900"/>
                  </a:lnTo>
                  <a:close/>
                </a:path>
              </a:pathLst>
            </a:custGeom>
            <a:solidFill>
              <a:srgbClr val="4F46E5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71600" y="1143000"/>
            <a:ext cx="169164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F46E5"/>
                </a:solidFill>
                <a:latin typeface="Inter Bold"/>
                <a:ea typeface="Inter Bold"/>
                <a:cs typeface="Inter Bold"/>
                <a:sym typeface="Inter Bold"/>
              </a:rPr>
              <a:t>STEP 4: TRAINING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600" y="1676400"/>
            <a:ext cx="16916400" cy="73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8"/>
              </a:lnSpc>
            </a:pPr>
            <a:r>
              <a:rPr lang="en-US" sz="54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How ALS "Learns"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14525" y="3776139"/>
            <a:ext cx="1571625" cy="7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R1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14525" y="5804964"/>
            <a:ext cx="1571625" cy="7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R2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14525" y="7833789"/>
            <a:ext cx="1571625" cy="7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R3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-2514600" y="9745932"/>
            <a:ext cx="194310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Training completes in 79 seconds.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057525" y="3783282"/>
            <a:ext cx="4732734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Fix Item Vectors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57525" y="4245245"/>
            <a:ext cx="4732734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Solve for optimal User vectors.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57525" y="5812107"/>
            <a:ext cx="4679156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Fix User Vectors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57525" y="6274070"/>
            <a:ext cx="4679156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Solve for optimal Item vectors.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057525" y="7840932"/>
            <a:ext cx="7500938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Repeat Alternate Solving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057525" y="8302895"/>
            <a:ext cx="7500938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Vectors improve each round. Max iterations = 10.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12648" y="3456013"/>
            <a:ext cx="8603752" cy="5557838"/>
            <a:chOff x="0" y="0"/>
            <a:chExt cx="11471669" cy="74104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71783" cy="7410450"/>
            </a:xfrm>
            <a:custGeom>
              <a:avLst/>
              <a:gdLst/>
              <a:ahLst/>
              <a:cxnLst/>
              <a:rect r="r" b="b" t="t" l="l"/>
              <a:pathLst>
                <a:path h="7410450" w="11471783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1243183" y="0"/>
                  </a:lnTo>
                  <a:cubicBezTo>
                    <a:pt x="11369421" y="0"/>
                    <a:pt x="11471783" y="102362"/>
                    <a:pt x="11471783" y="228600"/>
                  </a:cubicBezTo>
                  <a:lnTo>
                    <a:pt x="11471783" y="7181850"/>
                  </a:lnTo>
                  <a:cubicBezTo>
                    <a:pt x="11471783" y="7308088"/>
                    <a:pt x="11369421" y="7410450"/>
                    <a:pt x="11243183" y="7410450"/>
                  </a:cubicBezTo>
                  <a:lnTo>
                    <a:pt x="228600" y="7410450"/>
                  </a:lnTo>
                  <a:cubicBezTo>
                    <a:pt x="102362" y="7410450"/>
                    <a:pt x="0" y="7308088"/>
                    <a:pt x="0" y="7181850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98448" y="4184675"/>
            <a:ext cx="342900" cy="371475"/>
            <a:chOff x="0" y="0"/>
            <a:chExt cx="457200" cy="4953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457200" cy="495300"/>
            </a:xfrm>
            <a:custGeom>
              <a:avLst/>
              <a:gdLst/>
              <a:ahLst/>
              <a:cxnLst/>
              <a:rect r="r" b="b" t="t" l="l"/>
              <a:pathLst>
                <a:path h="4953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998448" y="5727725"/>
            <a:ext cx="342900" cy="371475"/>
            <a:chOff x="0" y="0"/>
            <a:chExt cx="457200" cy="4953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457200" cy="495300"/>
            </a:xfrm>
            <a:custGeom>
              <a:avLst/>
              <a:gdLst/>
              <a:ahLst/>
              <a:cxnLst/>
              <a:rect r="r" b="b" t="t" l="l"/>
              <a:pathLst>
                <a:path h="4953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998448" y="7285063"/>
            <a:ext cx="257175" cy="371475"/>
            <a:chOff x="0" y="0"/>
            <a:chExt cx="342900" cy="4953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342900" cy="495300"/>
            </a:xfrm>
            <a:custGeom>
              <a:avLst/>
              <a:gdLst/>
              <a:ahLst/>
              <a:cxnLst/>
              <a:rect r="r" b="b" t="t" l="l"/>
              <a:pathLst>
                <a:path h="4953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71600" y="1143000"/>
            <a:ext cx="169164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F46E5"/>
                </a:solidFill>
                <a:latin typeface="Inter Bold"/>
                <a:ea typeface="Inter Bold"/>
                <a:cs typeface="Inter Bold"/>
                <a:sym typeface="Inter Bold"/>
              </a:rPr>
              <a:t>EVALUATION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1600" y="1676400"/>
            <a:ext cx="16916400" cy="73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8"/>
              </a:lnSpc>
            </a:pPr>
            <a:r>
              <a:rPr lang="en-US" sz="54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Model Accuracy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1600" y="4791894"/>
            <a:ext cx="7533303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Test RMSE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1600" y="5634857"/>
            <a:ext cx="7533303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0"/>
              </a:lnSpc>
            </a:pPr>
            <a:r>
              <a:rPr lang="en-US" sz="13500" b="true">
                <a:solidFill>
                  <a:srgbClr val="4F46E5"/>
                </a:solidFill>
                <a:latin typeface="Arimo Bold"/>
                <a:ea typeface="Arimo Bold"/>
                <a:cs typeface="Arimo Bold"/>
                <a:sym typeface="Arimo Bold"/>
              </a:rPr>
              <a:t>1.3086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1600" y="7368407"/>
            <a:ext cx="7533303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Root Mean Square Error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84248" y="4132288"/>
            <a:ext cx="818293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80/20 Split Evaluation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84248" y="4618063"/>
            <a:ext cx="668922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Evaluated on a strictly held-out 20% test set to prevent overfitting.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84248" y="5675338"/>
            <a:ext cx="818293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Inherent Noise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84248" y="6161113"/>
            <a:ext cx="6689227" cy="623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Implicit data contains natural noise (e.g., window shopping ≠ poor taste).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98523" y="7232675"/>
            <a:ext cx="829009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Industry Standard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98523" y="7718450"/>
            <a:ext cx="677495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For implicit ALS, an RMSE of 1.0–2.0 is highly acceptable.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600" y="3326082"/>
            <a:ext cx="4876724" cy="5817918"/>
            <a:chOff x="0" y="0"/>
            <a:chExt cx="6502298" cy="77572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02273" cy="7757160"/>
            </a:xfrm>
            <a:custGeom>
              <a:avLst/>
              <a:gdLst/>
              <a:ahLst/>
              <a:cxnLst/>
              <a:rect r="r" b="b" t="t" l="l"/>
              <a:pathLst>
                <a:path h="7757160" w="6502273">
                  <a:moveTo>
                    <a:pt x="0" y="0"/>
                  </a:moveTo>
                  <a:lnTo>
                    <a:pt x="6502273" y="0"/>
                  </a:lnTo>
                  <a:lnTo>
                    <a:pt x="6502273" y="7757160"/>
                  </a:lnTo>
                  <a:lnTo>
                    <a:pt x="0" y="775716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705524" y="3326082"/>
            <a:ext cx="4876724" cy="5817918"/>
            <a:chOff x="0" y="0"/>
            <a:chExt cx="6502298" cy="77572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02273" cy="7757160"/>
            </a:xfrm>
            <a:custGeom>
              <a:avLst/>
              <a:gdLst/>
              <a:ahLst/>
              <a:cxnLst/>
              <a:rect r="r" b="b" t="t" l="l"/>
              <a:pathLst>
                <a:path h="7757160" w="6502273">
                  <a:moveTo>
                    <a:pt x="0" y="0"/>
                  </a:moveTo>
                  <a:lnTo>
                    <a:pt x="6502273" y="0"/>
                  </a:lnTo>
                  <a:lnTo>
                    <a:pt x="6502273" y="7757160"/>
                  </a:lnTo>
                  <a:lnTo>
                    <a:pt x="0" y="775716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039448" y="3326082"/>
            <a:ext cx="4876724" cy="5817918"/>
            <a:chOff x="0" y="0"/>
            <a:chExt cx="6502298" cy="77572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02273" cy="7757160"/>
            </a:xfrm>
            <a:custGeom>
              <a:avLst/>
              <a:gdLst/>
              <a:ahLst/>
              <a:cxnLst/>
              <a:rect r="r" b="b" t="t" l="l"/>
              <a:pathLst>
                <a:path h="7757160" w="6502273">
                  <a:moveTo>
                    <a:pt x="0" y="0"/>
                  </a:moveTo>
                  <a:lnTo>
                    <a:pt x="6502273" y="0"/>
                  </a:lnTo>
                  <a:lnTo>
                    <a:pt x="6502273" y="7757160"/>
                  </a:lnTo>
                  <a:lnTo>
                    <a:pt x="0" y="775716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71600" y="3326082"/>
            <a:ext cx="4876724" cy="57150"/>
            <a:chOff x="0" y="0"/>
            <a:chExt cx="6502298" cy="7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02273" cy="76200"/>
            </a:xfrm>
            <a:custGeom>
              <a:avLst/>
              <a:gdLst/>
              <a:ahLst/>
              <a:cxnLst/>
              <a:rect r="r" b="b" t="t" l="l"/>
              <a:pathLst>
                <a:path h="76200" w="6502273">
                  <a:moveTo>
                    <a:pt x="0" y="0"/>
                  </a:moveTo>
                  <a:lnTo>
                    <a:pt x="6502273" y="0"/>
                  </a:lnTo>
                  <a:lnTo>
                    <a:pt x="650227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705524" y="3326082"/>
            <a:ext cx="4876724" cy="57150"/>
            <a:chOff x="0" y="0"/>
            <a:chExt cx="6502298" cy="76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02273" cy="76200"/>
            </a:xfrm>
            <a:custGeom>
              <a:avLst/>
              <a:gdLst/>
              <a:ahLst/>
              <a:cxnLst/>
              <a:rect r="r" b="b" t="t" l="l"/>
              <a:pathLst>
                <a:path h="76200" w="6502273">
                  <a:moveTo>
                    <a:pt x="0" y="0"/>
                  </a:moveTo>
                  <a:lnTo>
                    <a:pt x="6502273" y="0"/>
                  </a:lnTo>
                  <a:lnTo>
                    <a:pt x="650227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039448" y="3326082"/>
            <a:ext cx="4876724" cy="57150"/>
            <a:chOff x="0" y="0"/>
            <a:chExt cx="6502298" cy="76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02273" cy="76200"/>
            </a:xfrm>
            <a:custGeom>
              <a:avLst/>
              <a:gdLst/>
              <a:ahLst/>
              <a:cxnLst/>
              <a:rect r="r" b="b" t="t" l="l"/>
              <a:pathLst>
                <a:path h="76200" w="6502273">
                  <a:moveTo>
                    <a:pt x="0" y="0"/>
                  </a:moveTo>
                  <a:lnTo>
                    <a:pt x="6502273" y="0"/>
                  </a:lnTo>
                  <a:lnTo>
                    <a:pt x="650227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43F5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488379" y="3954732"/>
            <a:ext cx="642938" cy="571500"/>
            <a:chOff x="0" y="0"/>
            <a:chExt cx="857250" cy="7620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857250" cy="762000"/>
            </a:xfrm>
            <a:custGeom>
              <a:avLst/>
              <a:gdLst/>
              <a:ahLst/>
              <a:cxnLst/>
              <a:rect r="r" b="b" t="t" l="l"/>
              <a:pathLst>
                <a:path h="762000" w="857250">
                  <a:moveTo>
                    <a:pt x="0" y="0"/>
                  </a:moveTo>
                  <a:lnTo>
                    <a:pt x="857250" y="0"/>
                  </a:lnTo>
                  <a:lnTo>
                    <a:pt x="85725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6" r="0" b="-134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893740" y="3954732"/>
            <a:ext cx="500062" cy="571500"/>
            <a:chOff x="0" y="0"/>
            <a:chExt cx="666750" cy="7620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666750" cy="762000"/>
            </a:xfrm>
            <a:custGeom>
              <a:avLst/>
              <a:gdLst/>
              <a:ahLst/>
              <a:cxnLst/>
              <a:rect r="r" b="b" t="t" l="l"/>
              <a:pathLst>
                <a:path h="7620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3" t="0" r="-175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227673" y="3954732"/>
            <a:ext cx="500062" cy="571500"/>
            <a:chOff x="0" y="0"/>
            <a:chExt cx="666750" cy="7620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666750" cy="762000"/>
            </a:xfrm>
            <a:custGeom>
              <a:avLst/>
              <a:gdLst/>
              <a:ahLst/>
              <a:cxnLst/>
              <a:rect r="r" b="b" t="t" l="l"/>
              <a:pathLst>
                <a:path h="7620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3" t="0" r="-175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-285750" y="1143000"/>
            <a:ext cx="18859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4F46E5"/>
                </a:solidFill>
                <a:latin typeface="Inter Bold"/>
                <a:ea typeface="Inter Bold"/>
                <a:cs typeface="Inter Bold"/>
                <a:sym typeface="Inter Bold"/>
              </a:rPr>
              <a:t>INTERACTIVE DASHBOARD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-285750" y="1676400"/>
            <a:ext cx="18859500" cy="73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8"/>
              </a:lnSpc>
            </a:pPr>
            <a:r>
              <a:rPr lang="en-US" sz="54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Live Demo Sequence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9685" y="4869132"/>
            <a:ext cx="5200555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The Power User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33510" y="5388245"/>
            <a:ext cx="4952905" cy="223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462" b="true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ID: 684514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33510" y="5802582"/>
            <a:ext cx="4952905" cy="677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Most active user in dataset. Shows highly confident Top-5 predictions.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43608" y="4869132"/>
            <a:ext cx="5200555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The Proven Buyer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667433" y="5388245"/>
            <a:ext cx="4952905" cy="223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462" b="true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ID: 599528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667433" y="5802582"/>
            <a:ext cx="4952905" cy="99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History includes actual purchases. Highlights high-weight score scaling.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877542" y="4869132"/>
            <a:ext cx="5200555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The Cold Start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001357" y="5388245"/>
            <a:ext cx="4952905" cy="223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462" b="true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ID: 999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01357" y="5802582"/>
            <a:ext cx="4952905" cy="677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Unknown user input triggers safety warning. Known system limitation.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86800" y="7165181"/>
            <a:ext cx="914400" cy="28575"/>
            <a:chOff x="0" y="0"/>
            <a:chExt cx="1219200" cy="3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" cy="38100"/>
            </a:xfrm>
            <a:custGeom>
              <a:avLst/>
              <a:gdLst/>
              <a:ahLst/>
              <a:cxnLst/>
              <a:rect r="r" b="b" t="t" l="l"/>
              <a:pathLst>
                <a:path h="381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43950" y="3093244"/>
            <a:ext cx="800100" cy="914400"/>
            <a:chOff x="0" y="0"/>
            <a:chExt cx="1066800" cy="12192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66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81" r="0" b="-78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206003" y="4512469"/>
            <a:ext cx="7875984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Thank You.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32734" y="6065044"/>
            <a:ext cx="8822531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Ready for the Live Dashboard Demo &amp;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DAHWRg9xE5s</dc:identifier>
  <dcterms:modified xsi:type="dcterms:W3CDTF">2011-08-01T06:04:30Z</dcterms:modified>
  <cp:revision>1</cp:revision>
  <dc:title>Big Data Recommendation Engine.pptx</dc:title>
</cp:coreProperties>
</file>